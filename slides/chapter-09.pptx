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7086600" cy="9372600"/>
  <p:embeddedFontLst>
    <p:embeddedFont>
      <p:font typeface="Helvetica Neue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000000"/>
          </p15:clr>
        </p15:guide>
        <p15:guide id="2" pos="44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j2Zs5XAswuiQAw02vl41GSspMi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0" name="Google Shape;160;p2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2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7" name="Google Shape;167;p2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2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4" name="Google Shape;174;p2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2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2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2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8" name="Google Shape;188;p3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3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5" name="Google Shape;195;p3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3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2" name="Google Shape;202;p3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1" name="Google Shape;211;p3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3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8" name="Google Shape;218;p3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3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6" name="Google Shape;226;p3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3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4" name="Google Shape;234;p7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7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0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2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2"/>
          <p:cNvSpPr txBox="1"/>
          <p:nvPr>
            <p:ph idx="1" type="body"/>
          </p:nvPr>
        </p:nvSpPr>
        <p:spPr>
          <a:xfrm>
            <a:off x="806450" y="12334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3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4"/>
          <p:cNvSpPr txBox="1"/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4"/>
          <p:cNvSpPr txBox="1"/>
          <p:nvPr>
            <p:ph idx="1" type="body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5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5"/>
          <p:cNvSpPr txBox="1"/>
          <p:nvPr>
            <p:ph idx="1" type="body"/>
          </p:nvPr>
        </p:nvSpPr>
        <p:spPr>
          <a:xfrm rot="5400000">
            <a:off x="2655888" y="-615950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8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23850" lvl="3" marL="1828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2" name="Google Shape;52;p8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7" name="Google Shape;57;p8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58" name="Google Shape;58;p8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9" name="Google Shape;59;p8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0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0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63" name="Google Shape;63;p90"/>
          <p:cNvSpPr txBox="1"/>
          <p:nvPr>
            <p:ph idx="2" type="body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jpg"/><Relationship Id="rId2" Type="http://schemas.openxmlformats.org/officeDocument/2006/relationships/image" Target="../media/image11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9"/>
          <p:cNvGrpSpPr/>
          <p:nvPr/>
        </p:nvGrpSpPr>
        <p:grpSpPr>
          <a:xfrm>
            <a:off x="198437" y="2960687"/>
            <a:ext cx="8610600" cy="201612"/>
            <a:chOff x="125" y="1865"/>
            <a:chExt cx="5424" cy="127"/>
          </a:xfrm>
        </p:grpSpPr>
        <p:sp>
          <p:nvSpPr>
            <p:cNvPr id="11" name="Google Shape;11;p79"/>
            <p:cNvSpPr txBox="1"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" name="Google Shape;12;p79"/>
            <p:cNvSpPr txBox="1"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" name="Google Shape;13;p79"/>
            <p:cNvSpPr txBox="1"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" name="Google Shape;14;p79"/>
          <p:cNvSpPr txBox="1"/>
          <p:nvPr/>
        </p:nvSpPr>
        <p:spPr>
          <a:xfrm>
            <a:off x="6489700" y="65881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15" name="Google Shape;15;p79"/>
          <p:cNvSpPr txBox="1"/>
          <p:nvPr/>
        </p:nvSpPr>
        <p:spPr>
          <a:xfrm>
            <a:off x="26987" y="6613525"/>
            <a:ext cx="269557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4" id="16" name="Google Shape;16;p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360737" y="4157662"/>
            <a:ext cx="2062162" cy="1593850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" name="Google Shape;17;p79"/>
          <p:cNvSpPr txBox="1"/>
          <p:nvPr/>
        </p:nvSpPr>
        <p:spPr>
          <a:xfrm>
            <a:off x="3224212" y="4006850"/>
            <a:ext cx="2336800" cy="1887537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79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79"/>
          <p:cNvSpPr txBox="1"/>
          <p:nvPr>
            <p:ph idx="1" type="body"/>
          </p:nvPr>
        </p:nvSpPr>
        <p:spPr>
          <a:xfrm>
            <a:off x="806450" y="12334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23" name="Google Shape;23;p8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5750" y="0"/>
            <a:ext cx="1195387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81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81"/>
          <p:cNvSpPr txBox="1"/>
          <p:nvPr>
            <p:ph idx="1" type="body"/>
          </p:nvPr>
        </p:nvSpPr>
        <p:spPr>
          <a:xfrm>
            <a:off x="806450" y="12334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" name="Google Shape;26;p81"/>
          <p:cNvSpPr txBox="1"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7" name="Google Shape;27;p81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" name="Google Shape;28;p81"/>
          <p:cNvSpPr txBox="1"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" name="Google Shape;29;p81"/>
          <p:cNvSpPr txBox="1"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81"/>
          <p:cNvSpPr txBox="1"/>
          <p:nvPr/>
        </p:nvSpPr>
        <p:spPr>
          <a:xfrm>
            <a:off x="4256087" y="6613525"/>
            <a:ext cx="44767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</a:t>
            </a:r>
            <a:fld id="{00000000-1234-1234-1234-123412341234}" type="slidenum"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31" name="Google Shape;31;p81"/>
          <p:cNvSpPr txBox="1"/>
          <p:nvPr/>
        </p:nvSpPr>
        <p:spPr>
          <a:xfrm>
            <a:off x="6489700" y="65881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32" name="Google Shape;32;p81"/>
          <p:cNvSpPr txBox="1"/>
          <p:nvPr/>
        </p:nvSpPr>
        <p:spPr>
          <a:xfrm>
            <a:off x="185737" y="6621462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6" id="33" name="Google Shape;33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3987" y="5849937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685800" y="80645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300"/>
              <a:buFont typeface="Arial"/>
              <a:buNone/>
            </a:pPr>
            <a:r>
              <a:rPr b="1" i="0" lang="en-US" sz="43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Chapter 9:  Virtual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982662" y="195262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Chapter 9:  Virtual Memory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838200" y="112395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Copy-on-Write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Allocation of Frames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Files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Allocating Kernel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Considerations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Operating-System Examples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457200" y="16827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928687" y="1233487"/>
            <a:ext cx="68770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describe the benefits of a virtual memory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explain the concepts of demand paging, page-replacement algorithms, and allocation of page frames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discuss the principle of the working-set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examine the relationship between shared memory and memory-mapped files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explore how kernel memory is managed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457200" y="14128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862012" y="1111250"/>
            <a:ext cx="7213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needs to be in memory to execute, but entire program rarely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Error code, unusual routines, large data structures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Entire program code not needed at same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ability to execute partially-loaded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no longer constrained by limits of physical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program takes less memory while running -&gt; more programs run at the same time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Increased CPU utilization and throughput with no increase in response time or turnaround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 to load or swap programs into memory -&gt; each user program runs faster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457200" y="150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Background (Cont.)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849312" y="1063625"/>
            <a:ext cx="7177087" cy="452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separation of user logical memory from physical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part of the program needs to be in memory for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address space can therefore be much larger than physical address space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address spaces to be shared by several processes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for more efficient process creation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programs running concurrently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 to load or swap processes</a:t>
            </a:r>
            <a:endParaRPr/>
          </a:p>
          <a:p>
            <a:pPr indent="-251459" lvl="0" marL="342900" rtl="0" algn="l"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457200" y="150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Background (Cont.)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874712" y="1038225"/>
            <a:ext cx="6834187" cy="452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address space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logical view of how process is stored in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Usually start at address 0, contiguous addresses until end of space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Meanwhile, physical memory organized in page frames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MMU must map logical to physical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 can be implemented via: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segmentation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1143000" y="76200"/>
            <a:ext cx="8080375" cy="608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Virtual Memory That is Larger Than Physical Memory</a:t>
            </a:r>
            <a:endParaRPr/>
          </a:p>
        </p:txBody>
      </p:sp>
      <p:pic>
        <p:nvPicPr>
          <p:cNvPr descr="9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1185862"/>
            <a:ext cx="5360987" cy="424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457200" y="1254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Demand Paging</a:t>
            </a:r>
            <a:endParaRPr/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704850" y="960437"/>
            <a:ext cx="4184650" cy="535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Could bring entire process into memory at load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bring a page into memory only when it is needed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needed, no unnecessary I/O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memory needed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Faster response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users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to paging system with swapping (diagram on right)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is needed ⇒ reference to 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 reference ⇒ abort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not-in-memory ⇒ bring to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Lazy swapper</a:t>
            </a:r>
            <a:r>
              <a:rPr b="0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never swaps a page into memory unless page will be needed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Swapper that deals with pages is a </a:t>
            </a: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pager</a:t>
            </a:r>
            <a:endParaRPr/>
          </a:p>
          <a:p>
            <a:pPr indent="-251459" lvl="0" marL="342900" rtl="0" algn="l"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1600" u="none">
              <a:solidFill>
                <a:srgbClr val="3366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9"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675" y="1701800"/>
            <a:ext cx="3878262" cy="355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Basic Concepts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806450" y="1144587"/>
            <a:ext cx="75120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swapping, pager guesses which pages will be used before swapping out again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Instead, pager brings in only those pages into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determine that set of pages?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new MMU functionality to implement demand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pages needed are already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resident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difference from non demand-paging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page needed and not memory resident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detect and load the page into memory from storage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changing program behavior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programmer needing to change code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type="title"/>
          </p:nvPr>
        </p:nvSpPr>
        <p:spPr>
          <a:xfrm>
            <a:off x="457200" y="1762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Valid-Invalid Bit</a:t>
            </a:r>
            <a:endParaRPr/>
          </a:p>
        </p:txBody>
      </p:sp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920750" y="1046162"/>
            <a:ext cx="7410450" cy="547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each page table entry a valid–invalid bit is associated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in-memory –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resident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not-in-memory)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Initially valid–invalid bit is set to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all entries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a page table snapshot: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MMU address translation, if valid–invalid bit in page table entry is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page fault</a:t>
            </a:r>
            <a:endParaRPr/>
          </a:p>
        </p:txBody>
      </p:sp>
      <p:pic>
        <p:nvPicPr>
          <p:cNvPr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475" y="2238375"/>
            <a:ext cx="2828925" cy="32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1092200" y="139700"/>
            <a:ext cx="82962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Table When Some Pages Are Not in Main Memory</a:t>
            </a:r>
            <a:endParaRPr/>
          </a:p>
        </p:txBody>
      </p:sp>
      <p:pic>
        <p:nvPicPr>
          <p:cNvPr descr="9"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700" y="1174750"/>
            <a:ext cx="4967287" cy="481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Fault</a:t>
            </a:r>
            <a:endParaRPr/>
          </a:p>
        </p:txBody>
      </p: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887412" y="904875"/>
            <a:ext cx="7138987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is a reference to a page, first reference to that page will trap to operating system: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looks at another table to decide:</a:t>
            </a:r>
            <a:endParaRPr/>
          </a:p>
          <a:p>
            <a:pPr indent="-341312" lvl="1" marL="798512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 reference ⇒ abort</a:t>
            </a:r>
            <a:endParaRPr/>
          </a:p>
          <a:p>
            <a:pPr indent="-341312" lvl="1" marL="798512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not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free frame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 page into frame via scheduled disk operation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Reset tables to indicate page now in memory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validation bit =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instruction that caused the page fault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690562" y="188912"/>
            <a:ext cx="7996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Steps in Handling a Page Fault</a:t>
            </a:r>
            <a:endParaRPr/>
          </a:p>
        </p:txBody>
      </p:sp>
      <p:pic>
        <p:nvPicPr>
          <p:cNvPr descr="9"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900" y="1217612"/>
            <a:ext cx="5800725" cy="484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962025" y="188912"/>
            <a:ext cx="77247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Replacement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895350" y="1233487"/>
            <a:ext cx="6508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Prevent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over-allocation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memory by modifying page-fault service routine to include page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bit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reduce overhead of page transfers – only modified pages are written to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 completes separation between logical memory and physical memory – large virtual memory can be provided on a smaller physical memory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993775" y="188912"/>
            <a:ext cx="7693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Need For Page Replacement</a:t>
            </a:r>
            <a:endParaRPr/>
          </a:p>
        </p:txBody>
      </p:sp>
      <p:pic>
        <p:nvPicPr>
          <p:cNvPr descr="9" id="171" name="Google Shape;17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200" y="1192212"/>
            <a:ext cx="6192837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1079500" y="163512"/>
            <a:ext cx="76073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Basic Page Replacement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908050" y="1122362"/>
            <a:ext cx="76533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9412" lvl="0" marL="3794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location of the desired page on disk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 free frame: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-  If there is a free frame, use it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-  If there is no free frame, use a page replacement algorithm to select a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victim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</a:t>
            </a:r>
            <a:b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victim frame to disk if dirty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  the desired page into the (newly) free frame; update the page and frame tables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Continue the process by restarting the instruction that caused the trap</a:t>
            </a:r>
            <a:endParaRPr/>
          </a:p>
          <a:p>
            <a:pPr indent="-27654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 now potentially 2 page transfers for page fault – increasing EAT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1022350" y="176212"/>
            <a:ext cx="7664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Replacement</a:t>
            </a:r>
            <a:endParaRPr/>
          </a:p>
        </p:txBody>
      </p:sp>
      <p:pic>
        <p:nvPicPr>
          <p:cNvPr descr="9" id="185" name="Google Shape;1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0" y="1223962"/>
            <a:ext cx="6267450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239837" y="163512"/>
            <a:ext cx="76755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and Frame Replacement Algorithms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869950" y="1133475"/>
            <a:ext cx="7486650" cy="4899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Frame-allocation algorithm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frames to give each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frames to replace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Page-replacement algorithm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Want lowest page-fault rate on both first access and re-access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 algorithm by running it on a particular string of memory references (reference string) and computing the number of page faults on that string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is just page numbers, not full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 access to the same page does not cause a page fault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depend on number of frames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all our examples, the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string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referenced page numbers is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7,0,1,2,0,3,0,4,2,3,0,3,0,3,2,1,2,0,1,7,0,1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104900" y="9842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Graph of Page Faults Versus The Number of Frames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800" y="1238250"/>
            <a:ext cx="6045200" cy="355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941387" y="176212"/>
            <a:ext cx="7821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First-In-First-Out (FIFO) Algorithm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908050" y="1052512"/>
            <a:ext cx="7283450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string: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7,0,1,2,0,3,0,4,2,3,0,3,0,3,2,1,2,0,1,7,0,1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frames (3 pages can be in memory at a time per process)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vary by reference string: consider 1,2,3,4,1,2,5,1,2,3,4,5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Adding more frames can cause more page faults!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Belady’s Anomaly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track ages of pages?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use a FIFO queue</a:t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1333500" y="3546475"/>
            <a:ext cx="1633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page faults</a:t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337" y="1854200"/>
            <a:ext cx="5327650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168400" y="214312"/>
            <a:ext cx="77343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FIFO Illustrating Belady’s Anomaly</a:t>
            </a:r>
            <a:endParaRPr/>
          </a:p>
        </p:txBody>
      </p:sp>
      <p:pic>
        <p:nvPicPr>
          <p:cNvPr descr="9_13.pdf" id="215" name="Google Shape;2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537" y="1303337"/>
            <a:ext cx="5676900" cy="406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749300" y="138112"/>
            <a:ext cx="79375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Optimal Algorithm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895350" y="11191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page that will not be used for longest period of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is optimal for the 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you know this?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Can’t read the future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for measuring how well your algorithm performs</a:t>
            </a:r>
            <a:endParaRPr/>
          </a:p>
        </p:txBody>
      </p:sp>
      <p:pic>
        <p:nvPicPr>
          <p:cNvPr id="223" name="Google Shape;2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" y="3159125"/>
            <a:ext cx="6259512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368425" y="163512"/>
            <a:ext cx="76739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Least Recently Used (LRU) Algorithm</a:t>
            </a:r>
            <a:endParaRPr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889000" y="727075"/>
            <a:ext cx="7454900" cy="4835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past knowledge rather than future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page that has not been used in the most amount of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Associate time of last use with each page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faults – better than FIFO but worse than OPT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Generally good algorithm and frequently used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9" id="231" name="Google Shape;2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587" y="2363787"/>
            <a:ext cx="6902450" cy="188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8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300"/>
              <a:buFont typeface="Arial"/>
              <a:buNone/>
            </a:pPr>
            <a:r>
              <a:rPr b="1" i="0" lang="en-US" sz="43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End of Chapter 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2011-01-13T23:43:38Z</dcterms:created>
  <dc:creator>Lucent End User</dc:creator>
</cp:coreProperties>
</file>